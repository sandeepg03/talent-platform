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AI Talent Intelligence Platform</a:t>
            </a:r>
          </a:p>
          <a:p>
            <a:pPr>
              <a:spcBef>
                <a:spcPts val="500"/>
              </a:spcBef>
              <a:defRPr sz="1800">
                <a:solidFill>
                  <a:srgbClr val="00B4D8"/>
                </a:solidFill>
                <a:latin typeface="Arial"/>
              </a:defRPr>
            </a:pPr>
            <a:r>
              <a:t>Production-Grade Semantic Search, Reranking &amp; Hybrid Scoring Pipeline for Large-Scale Candidate Ranking (100K+ Dataset)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Hackathon Track: Artificial Intelligence &amp; Data Science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Author Profile: sandeepg03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GitHub Repository: https://github.com/sandeepg03/talent-platform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Core Pipeline: Bi-Encoder (FAISS) -&gt; Cross-Encoder Reranker -&gt; Feature Engineer -&gt; Hybrid Scorer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63B"/>
                </a:solidFill>
                <a:latin typeface="Arial"/>
              </a:defRPr>
            </a:pPr>
            <a:r>
              <a:t>Problem Statement</a:t>
            </a:r>
          </a:p>
          <a:p>
            <a:pPr>
              <a:spcBef>
                <a:spcPts val="500"/>
              </a:spcBef>
              <a:defRPr sz="1800">
                <a:solidFill>
                  <a:srgbClr val="415A77"/>
                </a:solidFill>
                <a:latin typeface="Arial"/>
              </a:defRPr>
            </a:pPr>
            <a:r>
              <a:t>Bottlenecks in Modern Resume Parsing and Ranking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Scale Constraints: Processing 100K+ resumes in real-time is computationally heavy; naive O(N2) similarity checks time out.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Weak Keyword Matching: Standard parser matching misses semantic context and synonyms (e.g., matching 'ML' with 'Machine Learning').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Lack of Transparency: Most modern AI ranking systems function as 'black boxes' without clear, explainable reasoning for rankings.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Adversarial Resumes (Honeypots): Systems are susceptible to keyword stuffing and fake profiles designed to cheat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63B"/>
                </a:solidFill>
                <a:latin typeface="Arial"/>
              </a:defRPr>
            </a:pPr>
            <a:r>
              <a:t>Proposed Solution</a:t>
            </a:r>
          </a:p>
          <a:p>
            <a:pPr>
              <a:spcBef>
                <a:spcPts val="500"/>
              </a:spcBef>
              <a:defRPr sz="1800">
                <a:solidFill>
                  <a:srgbClr val="415A77"/>
                </a:solidFill>
                <a:latin typeface="Arial"/>
              </a:defRPr>
            </a:pPr>
            <a:r>
              <a:t>Two-Stage Cascade Architecture with Transparent Hybrid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Cascade Search Pipeline: High-recall bi-encoder fast retrieval followed by high-precision cross-encoder reranking.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Explainable AI: Every rank has a deterministic, recruiter-friendly generated explanation detailing skills, experience, and signal alignment.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Honeypot Shielding: Integrated heuristics filter out bad-faith synthetic profiles at the feature-engineering layer.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Flexible Hybrid Scorer: Balanced combination of semantic similarity, deep cross-encoder matching, and recruiter-specific heuristics.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63B"/>
                </a:solidFill>
                <a:latin typeface="Arial"/>
              </a:defRPr>
            </a:pPr>
            <a:r>
              <a:t>System Architecture</a:t>
            </a:r>
          </a:p>
          <a:p>
            <a:pPr>
              <a:spcBef>
                <a:spcPts val="500"/>
              </a:spcBef>
              <a:defRPr sz="1800">
                <a:solidFill>
                  <a:srgbClr val="415A77"/>
                </a:solidFill>
                <a:latin typeface="Arial"/>
              </a:defRPr>
            </a:pPr>
            <a:r>
              <a:t>Modular End-to-End Cascade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JD Parser: Extracts structured criteria (must-have/nice-to-have skills, years of experience, target domains).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Embedding Stage: Encodes JD and candidate text into 384-dim dense vectors using BAAI/bge-small-en-v1.5.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FAISS Vector Store: Performs sub-5ms IndexFlatIP inner-product search to extract top-500 candidate pool.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Cross-Encoder Reranking: Computes deep query-resume attention on top-500 using ms-marco-MiniLM-L-6-v2, keeping top-200.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Feature Engineering: Extracts years of experience, education level, certificate matches, open-source signals, and flags honeypots.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Hybrid Scoring &amp; Reasoning: Generates final weighted score (0-100) and writes detailed recruiter-centric explanation.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63B"/>
                </a:solidFill>
                <a:latin typeface="Arial"/>
              </a:defRPr>
            </a:pPr>
            <a:r>
              <a:t>Technology Stack</a:t>
            </a:r>
          </a:p>
          <a:p>
            <a:pPr>
              <a:spcBef>
                <a:spcPts val="500"/>
              </a:spcBef>
              <a:defRPr sz="1800">
                <a:solidFill>
                  <a:srgbClr val="415A77"/>
                </a:solidFill>
                <a:latin typeface="Arial"/>
              </a:defRPr>
            </a:pPr>
            <a:r>
              <a:t>Modern, Production-Grade open-source AI &amp; Data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Embedding &amp; Retrieval: Sentence-Transformers (BGE-Small-en-v1.5) &amp; Facebook AI Similarity Search (FAISS).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Deep Learning Reranking: PyTorch &amp; Cross-Encoder Rerankers (ms-marco-MiniLM-L-6-v2).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Schema Validation &amp; Models: Pydantic v2 for strict type safety and structured schemas.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Web APIs &amp; Servers: FastAPI backend for ultra-low latency server requests &amp; Uvicorn ASGI server.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Frontend App: Streamlit dashboard with interactive Plotly visualization charts.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Testing &amp; CI/CD: Pytest framework (362 tests) &amp; Docker + Compose + GitHub Actions CI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63B"/>
                </a:solidFill>
                <a:latin typeface="Arial"/>
              </a:defRPr>
            </a:pPr>
            <a:r>
              <a:t>Dataset Overview</a:t>
            </a:r>
          </a:p>
          <a:p>
            <a:pPr>
              <a:spcBef>
                <a:spcPts val="500"/>
              </a:spcBef>
              <a:defRPr sz="1800">
                <a:solidFill>
                  <a:srgbClr val="415A77"/>
                </a:solidFill>
                <a:latin typeface="Arial"/>
              </a:defRPr>
            </a:pPr>
            <a:r>
              <a:t>100,000+ Structured Candidates and Target Job Descriptions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Scale: 100,000+ candidate profiles in JSONL format (~464MB raw text).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Structured Profiles: Fully typed schema including experience, skills, career history, education, certifications, and GitHub signals.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Adversarial Profiles (Honeypots): Injected synthetic profiles designed to exploit simple keyword engines.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Target JD: Word Document (.docx) detailing structured target roles, must-have skills, and nice-to-have capabilities.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63B"/>
                </a:solidFill>
                <a:latin typeface="Arial"/>
              </a:defRPr>
            </a:pPr>
            <a:r>
              <a:t>Workflow / Pipeline</a:t>
            </a:r>
          </a:p>
          <a:p>
            <a:pPr>
              <a:spcBef>
                <a:spcPts val="500"/>
              </a:spcBef>
              <a:defRPr sz="1800">
                <a:solidFill>
                  <a:srgbClr val="415A77"/>
                </a:solidFill>
                <a:latin typeface="Arial"/>
              </a:defRPr>
            </a:pPr>
            <a:r>
              <a:t>Staggered Offline Precomputation vs Low-Latency Online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Offline Phase (precompute.py):</a:t>
            </a:r>
          </a:p>
          <a:p>
            <a:pPr lvl="1"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- Stream-parses 100k candidates from JSONL (9.5s). Truncates profiles to 96 words (matches model token limits).</a:t>
            </a:r>
          </a:p>
          <a:p>
            <a:pPr lvl="1"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- Staggered multiprocessing pool (3 workers, 2 threads each) encodes 100k texts in ~15 minutes on CPU.</a:t>
            </a:r>
          </a:p>
          <a:p>
            <a:pPr lvl="1"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- Persists embeddings and builds FAISS index flat-IP file to local disk artifacts.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Online Phase (rank.py):</a:t>
            </a:r>
          </a:p>
          <a:p>
            <a:pPr lvl="1"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- Parses job description -&gt; retrieves top-500 via FAISS index lookup (&lt;5ms).</a:t>
            </a:r>
          </a:p>
          <a:p>
            <a:pPr lvl="1"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- Reranks top-500 to top-200 via cross-encoder -&gt; Scores top-100 -&gt; Writes explanation -&gt; Outputs submission.csv.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63B"/>
                </a:solidFill>
                <a:latin typeface="Arial"/>
              </a:defRPr>
            </a:pPr>
            <a:r>
              <a:t>Key Features</a:t>
            </a:r>
          </a:p>
          <a:p>
            <a:pPr>
              <a:spcBef>
                <a:spcPts val="500"/>
              </a:spcBef>
              <a:defRPr sz="1800">
                <a:solidFill>
                  <a:srgbClr val="415A77"/>
                </a:solidFill>
                <a:latin typeface="Arial"/>
              </a:defRPr>
            </a:pPr>
            <a:r>
              <a:t>Advanced Capabilities Designed for Recruiter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Honeypot Resilience: Automatically scores but filters out adversarial resumes using 4 strict heuristic rules.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Recruiter-Signal Upweighting: Skills with Expert/Advanced proficiency are repeated during text building to gain higher embedding weight.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Deterministic Explainability: Recruiter-friendly reasoning details exact skill matches, experience gap, and signal scores.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Low-Latency API: Low-latency endpoint (/rank) computes, reranks, scores, and filters 100k candidates in seconds.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Interactive Streamlit UI: Upload JDs, browse candidates, inspect score breakdowns, and visualize skill alignments.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63B"/>
                </a:solidFill>
                <a:latin typeface="Arial"/>
              </a:defRPr>
            </a:pPr>
            <a:r>
              <a:t>AI/ML Approach</a:t>
            </a:r>
          </a:p>
          <a:p>
            <a:pPr>
              <a:spcBef>
                <a:spcPts val="500"/>
              </a:spcBef>
              <a:defRPr sz="1800">
                <a:solidFill>
                  <a:srgbClr val="415A77"/>
                </a:solidFill>
                <a:latin typeface="Arial"/>
              </a:defRPr>
            </a:pPr>
            <a:r>
              <a:t>State-of-the-Art Dense Retrieval and Cross-Attention Reranking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Bi-Encoder (bge-small-en-v1.5): Top-performing lightweight model on MTEB. Maps queries and candidates to unit-normalized space.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FAISS Indexing: Fast inner product search (L2-norm vectors mean dot-product is equivalent to cosine similarity).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Cross-Encoder (ms-marco-MiniLM-L-6-v2): Computes self-attention across combined query-document tokens.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Context Truncation: Restricting candidate texts to 96 words removes tail noise, matches model limits, and speeds up CPU speed by 4x.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63B"/>
                </a:solidFill>
                <a:latin typeface="Arial"/>
              </a:defRPr>
            </a:pPr>
            <a:r>
              <a:t>Scoring &amp; Ranking Methodology</a:t>
            </a:r>
          </a:p>
          <a:p>
            <a:pPr>
              <a:spcBef>
                <a:spcPts val="500"/>
              </a:spcBef>
              <a:defRPr sz="1800">
                <a:solidFill>
                  <a:srgbClr val="415A77"/>
                </a:solidFill>
                <a:latin typeface="Arial"/>
              </a:defRPr>
            </a:pPr>
            <a:r>
              <a:t>Multi-Dimensional Transparent Weighted Scoring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Weighted Score Formula (Normalized to [0, 100]):</a:t>
            </a:r>
          </a:p>
          <a:p>
            <a:pPr lvl="1"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- 40% Semantic Similarity (Bi-Encoder FAISS cosine score)</a:t>
            </a:r>
          </a:p>
          <a:p>
            <a:pPr lvl="1"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- 30% Cross-Encoder Reranker Score (Sigmoid-normalized logit)</a:t>
            </a:r>
          </a:p>
          <a:p>
            <a:pPr lvl="1"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- 10% Years of Experience Score (Matched against JD target)</a:t>
            </a:r>
          </a:p>
          <a:p>
            <a:pPr lvl="1"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- 10% GitHub Open Source Signal (Activity score)</a:t>
            </a:r>
          </a:p>
          <a:p>
            <a:pPr lvl="1"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- 5% Education Alignment Score (Degree levels matched to JD)</a:t>
            </a:r>
          </a:p>
          <a:p>
            <a:pPr lvl="1"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- 5% Certification Match Score (Exact name matching)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Tie-Breaking: Scores rounded to 4 decimals. Ties resolved by candidate_id ascending (alphabetical order).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63B"/>
                </a:solidFill>
                <a:latin typeface="Arial"/>
              </a:defRPr>
            </a:pPr>
            <a:r>
              <a:t>Scalability &amp; Performance</a:t>
            </a:r>
          </a:p>
          <a:p>
            <a:pPr>
              <a:spcBef>
                <a:spcPts val="500"/>
              </a:spcBef>
              <a:defRPr sz="1800">
                <a:solidFill>
                  <a:srgbClr val="415A77"/>
                </a:solidFill>
                <a:latin typeface="Arial"/>
              </a:defRPr>
            </a:pPr>
            <a:r>
              <a:t>CPU-Optimized Scaling and Low Footprint Memory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Staggered Multiprocessing: Avoids OpenMP deadlocks on Windows CPU and eliminates cache/memory bandwidth thrashing.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Streaming Parser: Iterator streams candidates one-by-one, keeping RAM usage under 1.5GB during 100k candidate parsing.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Vector Space Compression: 100k vectors stored in float32 consumes only 150MB of RAM, making it perfectly runnable on local laptops.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Cascaded Filtering: Restricting heavy neural computations to subset layers (100k -&gt; 500 -&gt; 200 -&gt; 100) ensures low latency.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63B"/>
                </a:solidFill>
                <a:latin typeface="Arial"/>
              </a:defRPr>
            </a:pPr>
            <a:r>
              <a:t>Challenges Faced &amp; Mitigations</a:t>
            </a:r>
          </a:p>
          <a:p>
            <a:pPr>
              <a:spcBef>
                <a:spcPts val="500"/>
              </a:spcBef>
              <a:defRPr sz="1800">
                <a:solidFill>
                  <a:srgbClr val="415A77"/>
                </a:solidFill>
                <a:latin typeface="Arial"/>
              </a:defRPr>
            </a:pPr>
            <a:r>
              <a:t>Engineering Solutions to Real-World Hardware and System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1. CPU Encoding Bottleneck: Running 100k long texts took 3+ hours on CPU. Resolved by pre-truncating to 96 words (4x speedup).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2. OpenMP Deadlocks: PyTorch multiprocessing hung on Windows. Mitigated by staggering worker startup delays by 2.0 seconds.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3. Memory Thrashing: Parallel workers saturated RAM. Resolved by limiting PyTorch threads inside workers to 2.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4. Adversarial Candidates: Fake profiles scoring high on semantic search. Mitigated by creating a 4-rule Feature Engineer checker.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63B"/>
                </a:solidFill>
                <a:latin typeface="Arial"/>
              </a:defRPr>
            </a:pPr>
            <a:r>
              <a:t>Results &amp; Accomplishments</a:t>
            </a:r>
          </a:p>
          <a:p>
            <a:pPr>
              <a:spcBef>
                <a:spcPts val="500"/>
              </a:spcBef>
              <a:defRPr sz="1800">
                <a:solidFill>
                  <a:srgbClr val="415A77"/>
                </a:solidFill>
                <a:latin typeface="Arial"/>
              </a:defRPr>
            </a:pPr>
            <a:r>
              <a:t>Robust, Validated, Hackathon-Ready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Validated Submissions: Outputs submission.csv containing candidate_id, rank (integer), score (non-increasing), and reasoning.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Format Compliance: Passed all validation checks of validate_submission.py (ties, order, ranks, shapes).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Robust Codebase: Passed 362/362 unit and integration tests with coverage tracking.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Containerized deployment: Fully runnable in multi-container environment via docker-compose.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63B"/>
                </a:solidFill>
                <a:latin typeface="Arial"/>
              </a:defRPr>
            </a:pPr>
            <a:r>
              <a:t>Future Improvements</a:t>
            </a:r>
          </a:p>
          <a:p>
            <a:pPr>
              <a:spcBef>
                <a:spcPts val="500"/>
              </a:spcBef>
              <a:defRPr sz="1800">
                <a:solidFill>
                  <a:srgbClr val="415A77"/>
                </a:solidFill>
                <a:latin typeface="Arial"/>
              </a:defRPr>
            </a:pPr>
            <a:r>
              <a:t>Planned Roadmap for Production Upgrades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GPU Acceleration: Integrate automatic CUDA acceleration inside workers for sub-minute precomputations.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Recruiter-in-the-Loop: Leverage active learning to tune scorer weights based on click/hire actions.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Advanced Parsing: Integrate LLMs (e.g. Gemini API) to parse unstructured resumes into structured JSON profiles.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Multi-Lingual Support: Upgrade bi-encoder to multi-lingual models to support global recruitment campaigns.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63B"/>
                </a:solidFill>
                <a:latin typeface="Arial"/>
              </a:defRPr>
            </a:pPr>
            <a:r>
              <a:t>Streamlit Demo &amp; UI Dashboard</a:t>
            </a:r>
          </a:p>
          <a:p>
            <a:pPr>
              <a:spcBef>
                <a:spcPts val="500"/>
              </a:spcBef>
              <a:defRPr sz="1800">
                <a:solidFill>
                  <a:srgbClr val="415A77"/>
                </a:solidFill>
                <a:latin typeface="Arial"/>
              </a:defRPr>
            </a:pPr>
            <a:r>
              <a:t>Interactive Dashboard Providing Complete Platform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Main Panel: Detailed table of Top-100 ranked candidates with search, filter, and CSV export capabilities.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Score Breakdown: Transparent Plotly radar and bar charts comparing bi-encoder, cross-encoder, and heuristic scores.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Skill Alignment: Interactive side-by-side comparison of candidate skills vs JD requirements.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API Docs: Integrated OpenAPI/Swagger UI detailing the /rank, /health, and /top100 endpoints.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  <a:p>
            <a:pPr>
              <a:spcBef>
                <a:spcPts val="500"/>
              </a:spcBef>
              <a:defRPr sz="1800">
                <a:solidFill>
                  <a:srgbClr val="00B4D8"/>
                </a:solidFill>
                <a:latin typeface="Arial"/>
              </a:defRPr>
            </a:pPr>
            <a:r>
              <a:t>Production-Grade AI Talent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AI-Powered: Integrates bi-encoders, vector stores, and cross-encoders for maximum search recall and ranking precision.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Transparent &amp; Fair: Provides detailed, human-readable reasonings and excludes adversarial profiles.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High Performance: Optimized to run seamlessly on standard CPU-only hardware under memory and time constraints.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Submission Ready: Repository pushed, validated, and documented for hackathon delivery.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